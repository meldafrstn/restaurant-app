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Montserrat Bold" charset="1" panose="00000800000000000000"/>
      <p:regular r:id="rId14"/>
    </p:embeddedFont>
    <p:embeddedFont>
      <p:font typeface="Montserrat Bold Italics" charset="1" panose="00000800000000000000"/>
      <p:regular r:id="rId15"/>
    </p:embeddedFont>
    <p:embeddedFont>
      <p:font typeface="Montserrat Medium" charset="1" panose="00000600000000000000"/>
      <p:regular r:id="rId16"/>
    </p:embeddedFont>
    <p:embeddedFont>
      <p:font typeface="Montserrat Italics" charset="1" panose="000005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3333" t="0" r="-33333" b="0"/>
            </a:stretch>
          </a:blipFill>
        </p:spPr>
      </p:sp>
      <p:sp>
        <p:nvSpPr>
          <p:cNvPr name="AutoShape 3" id="3"/>
          <p:cNvSpPr/>
          <p:nvPr/>
        </p:nvSpPr>
        <p:spPr>
          <a:xfrm>
            <a:off x="1302536" y="5939340"/>
            <a:ext cx="12114058" cy="0"/>
          </a:xfrm>
          <a:prstGeom prst="line">
            <a:avLst/>
          </a:prstGeom>
          <a:ln cap="flat" w="66675">
            <a:solidFill>
              <a:srgbClr val="2254C5"/>
            </a:solidFill>
            <a:prstDash val="solid"/>
            <a:headEnd type="none" len="sm" w="sm"/>
            <a:tailEnd type="none" len="sm" w="sm"/>
          </a:ln>
        </p:spPr>
      </p:sp>
      <p:sp>
        <p:nvSpPr>
          <p:cNvPr name="Freeform 4" id="4"/>
          <p:cNvSpPr/>
          <p:nvPr/>
        </p:nvSpPr>
        <p:spPr>
          <a:xfrm flipH="false" flipV="false" rot="0">
            <a:off x="3590326" y="8760225"/>
            <a:ext cx="100703" cy="130783"/>
          </a:xfrm>
          <a:custGeom>
            <a:avLst/>
            <a:gdLst/>
            <a:ahLst/>
            <a:cxnLst/>
            <a:rect r="r" b="b" t="t" l="l"/>
            <a:pathLst>
              <a:path h="130783" w="100703">
                <a:moveTo>
                  <a:pt x="0" y="0"/>
                </a:moveTo>
                <a:lnTo>
                  <a:pt x="100703" y="0"/>
                </a:lnTo>
                <a:lnTo>
                  <a:pt x="100703" y="130783"/>
                </a:lnTo>
                <a:lnTo>
                  <a:pt x="0" y="1307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121031" y="468672"/>
            <a:ext cx="1138269" cy="1120056"/>
          </a:xfrm>
          <a:custGeom>
            <a:avLst/>
            <a:gdLst/>
            <a:ahLst/>
            <a:cxnLst/>
            <a:rect r="r" b="b" t="t" l="l"/>
            <a:pathLst>
              <a:path h="1120056" w="1138269">
                <a:moveTo>
                  <a:pt x="0" y="0"/>
                </a:moveTo>
                <a:lnTo>
                  <a:pt x="1138269" y="0"/>
                </a:lnTo>
                <a:lnTo>
                  <a:pt x="1138269" y="1120056"/>
                </a:lnTo>
                <a:lnTo>
                  <a:pt x="0" y="1120056"/>
                </a:lnTo>
                <a:lnTo>
                  <a:pt x="0" y="0"/>
                </a:lnTo>
                <a:close/>
              </a:path>
            </a:pathLst>
          </a:custGeom>
          <a:blipFill>
            <a:blip r:embed="rId5"/>
            <a:stretch>
              <a:fillRect l="0" t="0" r="0" b="0"/>
            </a:stretch>
          </a:blipFill>
        </p:spPr>
      </p:sp>
      <p:sp>
        <p:nvSpPr>
          <p:cNvPr name="TextBox 6" id="6"/>
          <p:cNvSpPr txBox="true"/>
          <p:nvPr/>
        </p:nvSpPr>
        <p:spPr>
          <a:xfrm rot="0">
            <a:off x="1302536" y="3158378"/>
            <a:ext cx="15682929" cy="2545173"/>
          </a:xfrm>
          <a:prstGeom prst="rect">
            <a:avLst/>
          </a:prstGeom>
        </p:spPr>
        <p:txBody>
          <a:bodyPr anchor="t" rtlCol="false" tIns="0" lIns="0" bIns="0" rIns="0">
            <a:spAutoFit/>
          </a:bodyPr>
          <a:lstStyle/>
          <a:p>
            <a:pPr algn="l">
              <a:lnSpc>
                <a:spcPts val="20889"/>
              </a:lnSpc>
            </a:pPr>
            <a:r>
              <a:rPr lang="en-US" sz="14921" b="true">
                <a:solidFill>
                  <a:srgbClr val="2254C5"/>
                </a:solidFill>
                <a:latin typeface="Montserrat Bold"/>
                <a:ea typeface="Montserrat Bold"/>
                <a:cs typeface="Montserrat Bold"/>
                <a:sym typeface="Montserrat Bold"/>
              </a:rPr>
              <a:t>Restaurant App</a:t>
            </a:r>
          </a:p>
        </p:txBody>
      </p:sp>
      <p:sp>
        <p:nvSpPr>
          <p:cNvPr name="TextBox 7" id="7"/>
          <p:cNvSpPr txBox="true"/>
          <p:nvPr/>
        </p:nvSpPr>
        <p:spPr>
          <a:xfrm rot="0">
            <a:off x="1411815" y="6702139"/>
            <a:ext cx="4972201" cy="678028"/>
          </a:xfrm>
          <a:prstGeom prst="rect">
            <a:avLst/>
          </a:prstGeom>
        </p:spPr>
        <p:txBody>
          <a:bodyPr anchor="t" rtlCol="false" tIns="0" lIns="0" bIns="0" rIns="0">
            <a:spAutoFit/>
          </a:bodyPr>
          <a:lstStyle/>
          <a:p>
            <a:pPr algn="l">
              <a:lnSpc>
                <a:spcPts val="5678"/>
              </a:lnSpc>
            </a:pPr>
            <a:r>
              <a:rPr lang="en-US" b="true" sz="4056" i="true">
                <a:solidFill>
                  <a:srgbClr val="2254C5"/>
                </a:solidFill>
                <a:latin typeface="Montserrat Bold Italics"/>
                <a:ea typeface="Montserrat Bold Italics"/>
                <a:cs typeface="Montserrat Bold Italics"/>
                <a:sym typeface="Montserrat Bold Italics"/>
              </a:rPr>
              <a:t>Melda Frestiana</a:t>
            </a:r>
          </a:p>
        </p:txBody>
      </p:sp>
      <p:sp>
        <p:nvSpPr>
          <p:cNvPr name="TextBox 8" id="8"/>
          <p:cNvSpPr txBox="true"/>
          <p:nvPr/>
        </p:nvSpPr>
        <p:spPr>
          <a:xfrm rot="0">
            <a:off x="1411815" y="6220328"/>
            <a:ext cx="3186611" cy="272261"/>
          </a:xfrm>
          <a:prstGeom prst="rect">
            <a:avLst/>
          </a:prstGeom>
        </p:spPr>
        <p:txBody>
          <a:bodyPr anchor="t" rtlCol="false" tIns="0" lIns="0" bIns="0" rIns="0">
            <a:spAutoFit/>
          </a:bodyPr>
          <a:lstStyle/>
          <a:p>
            <a:pPr algn="l">
              <a:lnSpc>
                <a:spcPts val="2318"/>
              </a:lnSpc>
            </a:pPr>
            <a:r>
              <a:rPr lang="en-US" sz="1656" b="true">
                <a:solidFill>
                  <a:srgbClr val="2254C5"/>
                </a:solidFill>
                <a:latin typeface="Montserrat Medium"/>
                <a:ea typeface="Montserrat Medium"/>
                <a:cs typeface="Montserrat Medium"/>
                <a:sym typeface="Montserrat Medium"/>
              </a:rPr>
              <a:t>Selasa, 02 Desember 2025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9607327" y="261653"/>
            <a:ext cx="6437939" cy="0"/>
          </a:xfrm>
          <a:prstGeom prst="line">
            <a:avLst/>
          </a:prstGeom>
          <a:ln cap="flat" w="28575">
            <a:solidFill>
              <a:srgbClr val="2254C5"/>
            </a:solidFill>
            <a:prstDash val="solid"/>
            <a:headEnd type="none" len="sm" w="sm"/>
            <a:tailEnd type="none" len="sm" w="sm"/>
          </a:ln>
        </p:spPr>
      </p:sp>
      <p:sp>
        <p:nvSpPr>
          <p:cNvPr name="Freeform 3" id="3"/>
          <p:cNvSpPr/>
          <p:nvPr/>
        </p:nvSpPr>
        <p:spPr>
          <a:xfrm flipH="false" flipV="false" rot="0">
            <a:off x="16371325" y="247365"/>
            <a:ext cx="1138269" cy="1120056"/>
          </a:xfrm>
          <a:custGeom>
            <a:avLst/>
            <a:gdLst/>
            <a:ahLst/>
            <a:cxnLst/>
            <a:rect r="r" b="b" t="t" l="l"/>
            <a:pathLst>
              <a:path h="1120056" w="1138269">
                <a:moveTo>
                  <a:pt x="0" y="0"/>
                </a:moveTo>
                <a:lnTo>
                  <a:pt x="1138268" y="0"/>
                </a:lnTo>
                <a:lnTo>
                  <a:pt x="1138268" y="1120057"/>
                </a:lnTo>
                <a:lnTo>
                  <a:pt x="0" y="1120057"/>
                </a:lnTo>
                <a:lnTo>
                  <a:pt x="0" y="0"/>
                </a:lnTo>
                <a:close/>
              </a:path>
            </a:pathLst>
          </a:custGeom>
          <a:blipFill>
            <a:blip r:embed="rId2"/>
            <a:stretch>
              <a:fillRect l="0" t="0" r="0" b="0"/>
            </a:stretch>
          </a:blipFill>
        </p:spPr>
      </p:sp>
      <p:sp>
        <p:nvSpPr>
          <p:cNvPr name="Freeform 4" id="4"/>
          <p:cNvSpPr/>
          <p:nvPr/>
        </p:nvSpPr>
        <p:spPr>
          <a:xfrm flipH="false" flipV="false" rot="0">
            <a:off x="803436" y="2254413"/>
            <a:ext cx="7568645" cy="6745554"/>
          </a:xfrm>
          <a:custGeom>
            <a:avLst/>
            <a:gdLst/>
            <a:ahLst/>
            <a:cxnLst/>
            <a:rect r="r" b="b" t="t" l="l"/>
            <a:pathLst>
              <a:path h="6745554" w="7568645">
                <a:moveTo>
                  <a:pt x="0" y="0"/>
                </a:moveTo>
                <a:lnTo>
                  <a:pt x="7568645" y="0"/>
                </a:lnTo>
                <a:lnTo>
                  <a:pt x="7568645" y="6745555"/>
                </a:lnTo>
                <a:lnTo>
                  <a:pt x="0" y="67455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8845934" y="4073229"/>
            <a:ext cx="9062425" cy="3443517"/>
          </a:xfrm>
          <a:prstGeom prst="rect">
            <a:avLst/>
          </a:prstGeom>
        </p:spPr>
        <p:txBody>
          <a:bodyPr anchor="t" rtlCol="false" tIns="0" lIns="0" bIns="0" rIns="0">
            <a:spAutoFit/>
          </a:bodyPr>
          <a:lstStyle/>
          <a:p>
            <a:pPr algn="just">
              <a:lnSpc>
                <a:spcPts val="3924"/>
              </a:lnSpc>
            </a:pPr>
            <a:r>
              <a:rPr lang="en-US" b="true" sz="2803">
                <a:solidFill>
                  <a:srgbClr val="2254C5"/>
                </a:solidFill>
                <a:latin typeface="Montserrat Bold"/>
                <a:ea typeface="Montserrat Bold"/>
                <a:cs typeface="Montserrat Bold"/>
                <a:sym typeface="Montserrat Bold"/>
              </a:rPr>
              <a:t>Sistem Restaurant App </a:t>
            </a:r>
            <a:r>
              <a:rPr lang="en-US" b="true" sz="2803">
                <a:solidFill>
                  <a:srgbClr val="2254C5"/>
                </a:solidFill>
                <a:latin typeface="Montserrat Bold"/>
                <a:ea typeface="Montserrat Bold"/>
                <a:cs typeface="Montserrat Bold"/>
                <a:sym typeface="Montserrat Bold"/>
              </a:rPr>
              <a:t>adalah sebuah aplikasi yang digunakan untuk mengatur dan memproses pemesanan meja di restoran secara online. Melalui sistem ini, pelanggan dapat melihat ketersediaan meja, memilih tanggal dan waktu kunjungan, serta membuat reservasi tanpa perlu datang langsung ke restoran.</a:t>
            </a:r>
          </a:p>
        </p:txBody>
      </p:sp>
      <p:sp>
        <p:nvSpPr>
          <p:cNvPr name="TextBox 6" id="6"/>
          <p:cNvSpPr txBox="true"/>
          <p:nvPr/>
        </p:nvSpPr>
        <p:spPr>
          <a:xfrm rot="0">
            <a:off x="8845934" y="2282988"/>
            <a:ext cx="8413366" cy="1397612"/>
          </a:xfrm>
          <a:prstGeom prst="rect">
            <a:avLst/>
          </a:prstGeom>
        </p:spPr>
        <p:txBody>
          <a:bodyPr anchor="t" rtlCol="false" tIns="0" lIns="0" bIns="0" rIns="0">
            <a:spAutoFit/>
          </a:bodyPr>
          <a:lstStyle/>
          <a:p>
            <a:pPr algn="l">
              <a:lnSpc>
                <a:spcPts val="10951"/>
              </a:lnSpc>
            </a:pPr>
            <a:r>
              <a:rPr lang="en-US" sz="9360" b="true">
                <a:solidFill>
                  <a:srgbClr val="2254C5"/>
                </a:solidFill>
                <a:latin typeface="Montserrat Bold"/>
                <a:ea typeface="Montserrat Bold"/>
                <a:cs typeface="Montserrat Bold"/>
                <a:sym typeface="Montserrat Bold"/>
              </a:rPr>
              <a:t>About</a:t>
            </a:r>
          </a:p>
        </p:txBody>
      </p:sp>
      <p:sp>
        <p:nvSpPr>
          <p:cNvPr name="TextBox 7" id="7"/>
          <p:cNvSpPr txBox="true"/>
          <p:nvPr/>
        </p:nvSpPr>
        <p:spPr>
          <a:xfrm rot="0">
            <a:off x="1468039" y="656975"/>
            <a:ext cx="1845132" cy="272261"/>
          </a:xfrm>
          <a:prstGeom prst="rect">
            <a:avLst/>
          </a:prstGeom>
        </p:spPr>
        <p:txBody>
          <a:bodyPr anchor="t" rtlCol="false" tIns="0" lIns="0" bIns="0" rIns="0">
            <a:spAutoFit/>
          </a:bodyPr>
          <a:lstStyle/>
          <a:p>
            <a:pPr algn="l">
              <a:lnSpc>
                <a:spcPts val="2318"/>
              </a:lnSpc>
            </a:pPr>
            <a:r>
              <a:rPr lang="en-US" b="true" sz="1656" i="true">
                <a:solidFill>
                  <a:srgbClr val="2254C5"/>
                </a:solidFill>
                <a:latin typeface="Montserrat Bold Italics"/>
                <a:ea typeface="Montserrat Bold Italics"/>
                <a:cs typeface="Montserrat Bold Italics"/>
                <a:sym typeface="Montserrat Bold Italics"/>
              </a:rPr>
              <a:t>Restaurant App</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4145" y="9719678"/>
            <a:ext cx="20443391" cy="0"/>
          </a:xfrm>
          <a:prstGeom prst="line">
            <a:avLst/>
          </a:prstGeom>
          <a:ln cap="flat" w="28575">
            <a:solidFill>
              <a:srgbClr val="2254C5"/>
            </a:solidFill>
            <a:prstDash val="solid"/>
            <a:headEnd type="none" len="sm" w="sm"/>
            <a:tailEnd type="none" len="sm" w="sm"/>
          </a:ln>
        </p:spPr>
      </p:sp>
      <p:sp>
        <p:nvSpPr>
          <p:cNvPr name="AutoShape 3" id="3"/>
          <p:cNvSpPr/>
          <p:nvPr/>
        </p:nvSpPr>
        <p:spPr>
          <a:xfrm flipV="true">
            <a:off x="9523223" y="420970"/>
            <a:ext cx="6923190" cy="0"/>
          </a:xfrm>
          <a:prstGeom prst="line">
            <a:avLst/>
          </a:prstGeom>
          <a:ln cap="flat" w="28575">
            <a:solidFill>
              <a:srgbClr val="2254C5"/>
            </a:solidFill>
            <a:prstDash val="solid"/>
            <a:headEnd type="none" len="sm" w="sm"/>
            <a:tailEnd type="none" len="sm" w="sm"/>
          </a:ln>
        </p:spPr>
      </p:sp>
      <p:sp>
        <p:nvSpPr>
          <p:cNvPr name="Freeform 4" id="4"/>
          <p:cNvSpPr/>
          <p:nvPr/>
        </p:nvSpPr>
        <p:spPr>
          <a:xfrm flipH="false" flipV="false" rot="0">
            <a:off x="16690166" y="111235"/>
            <a:ext cx="1138269" cy="1120056"/>
          </a:xfrm>
          <a:custGeom>
            <a:avLst/>
            <a:gdLst/>
            <a:ahLst/>
            <a:cxnLst/>
            <a:rect r="r" b="b" t="t" l="l"/>
            <a:pathLst>
              <a:path h="1120056" w="1138269">
                <a:moveTo>
                  <a:pt x="0" y="0"/>
                </a:moveTo>
                <a:lnTo>
                  <a:pt x="1138268" y="0"/>
                </a:lnTo>
                <a:lnTo>
                  <a:pt x="1138268" y="1120056"/>
                </a:lnTo>
                <a:lnTo>
                  <a:pt x="0" y="1120056"/>
                </a:lnTo>
                <a:lnTo>
                  <a:pt x="0" y="0"/>
                </a:lnTo>
                <a:close/>
              </a:path>
            </a:pathLst>
          </a:custGeom>
          <a:blipFill>
            <a:blip r:embed="rId2"/>
            <a:stretch>
              <a:fillRect l="0" t="0" r="0" b="0"/>
            </a:stretch>
          </a:blipFill>
        </p:spPr>
      </p:sp>
      <p:sp>
        <p:nvSpPr>
          <p:cNvPr name="Freeform 5" id="5"/>
          <p:cNvSpPr/>
          <p:nvPr/>
        </p:nvSpPr>
        <p:spPr>
          <a:xfrm flipH="false" flipV="false" rot="0">
            <a:off x="5346546" y="1697733"/>
            <a:ext cx="10853220" cy="8021945"/>
          </a:xfrm>
          <a:custGeom>
            <a:avLst/>
            <a:gdLst/>
            <a:ahLst/>
            <a:cxnLst/>
            <a:rect r="r" b="b" t="t" l="l"/>
            <a:pathLst>
              <a:path h="8021945" w="10853220">
                <a:moveTo>
                  <a:pt x="0" y="0"/>
                </a:moveTo>
                <a:lnTo>
                  <a:pt x="10853220" y="0"/>
                </a:lnTo>
                <a:lnTo>
                  <a:pt x="10853220" y="8021945"/>
                </a:lnTo>
                <a:lnTo>
                  <a:pt x="0" y="8021945"/>
                </a:lnTo>
                <a:lnTo>
                  <a:pt x="0" y="0"/>
                </a:lnTo>
                <a:close/>
              </a:path>
            </a:pathLst>
          </a:custGeom>
          <a:blipFill>
            <a:blip r:embed="rId3"/>
            <a:stretch>
              <a:fillRect l="0" t="0" r="0" b="0"/>
            </a:stretch>
          </a:blipFill>
        </p:spPr>
      </p:sp>
      <p:sp>
        <p:nvSpPr>
          <p:cNvPr name="TextBox 6" id="6"/>
          <p:cNvSpPr txBox="true"/>
          <p:nvPr/>
        </p:nvSpPr>
        <p:spPr>
          <a:xfrm rot="0">
            <a:off x="1468039" y="2609636"/>
            <a:ext cx="4638173" cy="1023218"/>
          </a:xfrm>
          <a:prstGeom prst="rect">
            <a:avLst/>
          </a:prstGeom>
        </p:spPr>
        <p:txBody>
          <a:bodyPr anchor="t" rtlCol="false" tIns="0" lIns="0" bIns="0" rIns="0">
            <a:spAutoFit/>
          </a:bodyPr>
          <a:lstStyle/>
          <a:p>
            <a:pPr algn="l">
              <a:lnSpc>
                <a:spcPts val="8378"/>
              </a:lnSpc>
            </a:pPr>
            <a:r>
              <a:rPr lang="en-US" sz="5984" b="true">
                <a:solidFill>
                  <a:srgbClr val="2254C5"/>
                </a:solidFill>
                <a:latin typeface="Montserrat Bold"/>
                <a:ea typeface="Montserrat Bold"/>
                <a:cs typeface="Montserrat Bold"/>
                <a:sym typeface="Montserrat Bold"/>
              </a:rPr>
              <a:t>USE CASE</a:t>
            </a:r>
          </a:p>
        </p:txBody>
      </p:sp>
      <p:sp>
        <p:nvSpPr>
          <p:cNvPr name="TextBox 7" id="7"/>
          <p:cNvSpPr txBox="true"/>
          <p:nvPr/>
        </p:nvSpPr>
        <p:spPr>
          <a:xfrm rot="0">
            <a:off x="1468039" y="656975"/>
            <a:ext cx="1845132" cy="272261"/>
          </a:xfrm>
          <a:prstGeom prst="rect">
            <a:avLst/>
          </a:prstGeom>
        </p:spPr>
        <p:txBody>
          <a:bodyPr anchor="t" rtlCol="false" tIns="0" lIns="0" bIns="0" rIns="0">
            <a:spAutoFit/>
          </a:bodyPr>
          <a:lstStyle/>
          <a:p>
            <a:pPr algn="l">
              <a:lnSpc>
                <a:spcPts val="2318"/>
              </a:lnSpc>
            </a:pPr>
            <a:r>
              <a:rPr lang="en-US" b="true" sz="1656" i="true">
                <a:solidFill>
                  <a:srgbClr val="2254C5"/>
                </a:solidFill>
                <a:latin typeface="Montserrat Bold Italics"/>
                <a:ea typeface="Montserrat Bold Italics"/>
                <a:cs typeface="Montserrat Bold Italics"/>
                <a:sym typeface="Montserrat Bold Italics"/>
              </a:rPr>
              <a:t>Restaurant App</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77695" y="9947678"/>
            <a:ext cx="20443391" cy="0"/>
          </a:xfrm>
          <a:prstGeom prst="line">
            <a:avLst/>
          </a:prstGeom>
          <a:ln cap="flat" w="28575">
            <a:solidFill>
              <a:srgbClr val="2254C5"/>
            </a:solidFill>
            <a:prstDash val="solid"/>
            <a:headEnd type="none" len="sm" w="sm"/>
            <a:tailEnd type="none" len="sm" w="sm"/>
          </a:ln>
        </p:spPr>
      </p:sp>
      <p:sp>
        <p:nvSpPr>
          <p:cNvPr name="AutoShape 3" id="3"/>
          <p:cNvSpPr/>
          <p:nvPr/>
        </p:nvSpPr>
        <p:spPr>
          <a:xfrm flipV="true">
            <a:off x="9523223" y="420970"/>
            <a:ext cx="6923190" cy="0"/>
          </a:xfrm>
          <a:prstGeom prst="line">
            <a:avLst/>
          </a:prstGeom>
          <a:ln cap="flat" w="28575">
            <a:solidFill>
              <a:srgbClr val="2254C5"/>
            </a:solidFill>
            <a:prstDash val="solid"/>
            <a:headEnd type="none" len="sm" w="sm"/>
            <a:tailEnd type="none" len="sm" w="sm"/>
          </a:ln>
        </p:spPr>
      </p:sp>
      <p:sp>
        <p:nvSpPr>
          <p:cNvPr name="Freeform 4" id="4"/>
          <p:cNvSpPr/>
          <p:nvPr/>
        </p:nvSpPr>
        <p:spPr>
          <a:xfrm flipH="false" flipV="false" rot="0">
            <a:off x="16690166" y="111235"/>
            <a:ext cx="1138269" cy="1120056"/>
          </a:xfrm>
          <a:custGeom>
            <a:avLst/>
            <a:gdLst/>
            <a:ahLst/>
            <a:cxnLst/>
            <a:rect r="r" b="b" t="t" l="l"/>
            <a:pathLst>
              <a:path h="1120056" w="1138269">
                <a:moveTo>
                  <a:pt x="0" y="0"/>
                </a:moveTo>
                <a:lnTo>
                  <a:pt x="1138268" y="0"/>
                </a:lnTo>
                <a:lnTo>
                  <a:pt x="1138268" y="1120056"/>
                </a:lnTo>
                <a:lnTo>
                  <a:pt x="0" y="1120056"/>
                </a:lnTo>
                <a:lnTo>
                  <a:pt x="0" y="0"/>
                </a:lnTo>
                <a:close/>
              </a:path>
            </a:pathLst>
          </a:custGeom>
          <a:blipFill>
            <a:blip r:embed="rId2"/>
            <a:stretch>
              <a:fillRect l="0" t="0" r="0" b="0"/>
            </a:stretch>
          </a:blipFill>
        </p:spPr>
      </p:sp>
      <p:sp>
        <p:nvSpPr>
          <p:cNvPr name="Freeform 5" id="5"/>
          <p:cNvSpPr/>
          <p:nvPr/>
        </p:nvSpPr>
        <p:spPr>
          <a:xfrm flipH="false" flipV="false" rot="0">
            <a:off x="5041869" y="671263"/>
            <a:ext cx="6674561" cy="9195703"/>
          </a:xfrm>
          <a:custGeom>
            <a:avLst/>
            <a:gdLst/>
            <a:ahLst/>
            <a:cxnLst/>
            <a:rect r="r" b="b" t="t" l="l"/>
            <a:pathLst>
              <a:path h="9195703" w="6674561">
                <a:moveTo>
                  <a:pt x="0" y="0"/>
                </a:moveTo>
                <a:lnTo>
                  <a:pt x="6674562" y="0"/>
                </a:lnTo>
                <a:lnTo>
                  <a:pt x="6674562" y="9195703"/>
                </a:lnTo>
                <a:lnTo>
                  <a:pt x="0" y="9195703"/>
                </a:lnTo>
                <a:lnTo>
                  <a:pt x="0" y="0"/>
                </a:lnTo>
                <a:close/>
              </a:path>
            </a:pathLst>
          </a:custGeom>
          <a:blipFill>
            <a:blip r:embed="rId3"/>
            <a:stretch>
              <a:fillRect l="0" t="0" r="0" b="0"/>
            </a:stretch>
          </a:blipFill>
        </p:spPr>
      </p:sp>
      <p:sp>
        <p:nvSpPr>
          <p:cNvPr name="Freeform 6" id="6"/>
          <p:cNvSpPr/>
          <p:nvPr/>
        </p:nvSpPr>
        <p:spPr>
          <a:xfrm flipH="false" flipV="false" rot="0">
            <a:off x="11716431" y="420970"/>
            <a:ext cx="6362694" cy="9445997"/>
          </a:xfrm>
          <a:custGeom>
            <a:avLst/>
            <a:gdLst/>
            <a:ahLst/>
            <a:cxnLst/>
            <a:rect r="r" b="b" t="t" l="l"/>
            <a:pathLst>
              <a:path h="9445997" w="6362694">
                <a:moveTo>
                  <a:pt x="0" y="0"/>
                </a:moveTo>
                <a:lnTo>
                  <a:pt x="6362694" y="0"/>
                </a:lnTo>
                <a:lnTo>
                  <a:pt x="6362694" y="9445996"/>
                </a:lnTo>
                <a:lnTo>
                  <a:pt x="0" y="9445996"/>
                </a:lnTo>
                <a:lnTo>
                  <a:pt x="0" y="0"/>
                </a:lnTo>
                <a:close/>
              </a:path>
            </a:pathLst>
          </a:custGeom>
          <a:blipFill>
            <a:blip r:embed="rId4"/>
            <a:stretch>
              <a:fillRect l="-3039" t="0" r="-3039" b="0"/>
            </a:stretch>
          </a:blipFill>
        </p:spPr>
      </p:sp>
      <p:sp>
        <p:nvSpPr>
          <p:cNvPr name="TextBox 7" id="7"/>
          <p:cNvSpPr txBox="true"/>
          <p:nvPr/>
        </p:nvSpPr>
        <p:spPr>
          <a:xfrm rot="0">
            <a:off x="480403" y="2174472"/>
            <a:ext cx="4797522" cy="2450113"/>
          </a:xfrm>
          <a:prstGeom prst="rect">
            <a:avLst/>
          </a:prstGeom>
        </p:spPr>
        <p:txBody>
          <a:bodyPr anchor="t" rtlCol="false" tIns="0" lIns="0" bIns="0" rIns="0">
            <a:spAutoFit/>
          </a:bodyPr>
          <a:lstStyle/>
          <a:p>
            <a:pPr algn="l">
              <a:lnSpc>
                <a:spcPts val="9854"/>
              </a:lnSpc>
            </a:pPr>
            <a:r>
              <a:rPr lang="en-US" sz="7038" b="true">
                <a:solidFill>
                  <a:srgbClr val="2254C5"/>
                </a:solidFill>
                <a:latin typeface="Montserrat Bold"/>
                <a:ea typeface="Montserrat Bold"/>
                <a:cs typeface="Montserrat Bold"/>
                <a:sym typeface="Montserrat Bold"/>
              </a:rPr>
              <a:t>ACTIVITY </a:t>
            </a:r>
          </a:p>
          <a:p>
            <a:pPr algn="l">
              <a:lnSpc>
                <a:spcPts val="9854"/>
              </a:lnSpc>
            </a:pPr>
            <a:r>
              <a:rPr lang="en-US" sz="7038" b="true">
                <a:solidFill>
                  <a:srgbClr val="2254C5"/>
                </a:solidFill>
                <a:latin typeface="Montserrat Bold"/>
                <a:ea typeface="Montserrat Bold"/>
                <a:cs typeface="Montserrat Bold"/>
                <a:sym typeface="Montserrat Bold"/>
              </a:rPr>
              <a:t>DIAGRAM</a:t>
            </a:r>
          </a:p>
        </p:txBody>
      </p:sp>
      <p:sp>
        <p:nvSpPr>
          <p:cNvPr name="TextBox 8" id="8"/>
          <p:cNvSpPr txBox="true"/>
          <p:nvPr/>
        </p:nvSpPr>
        <p:spPr>
          <a:xfrm rot="0">
            <a:off x="1468039" y="656975"/>
            <a:ext cx="1845132" cy="272261"/>
          </a:xfrm>
          <a:prstGeom prst="rect">
            <a:avLst/>
          </a:prstGeom>
        </p:spPr>
        <p:txBody>
          <a:bodyPr anchor="t" rtlCol="false" tIns="0" lIns="0" bIns="0" rIns="0">
            <a:spAutoFit/>
          </a:bodyPr>
          <a:lstStyle/>
          <a:p>
            <a:pPr algn="l">
              <a:lnSpc>
                <a:spcPts val="2318"/>
              </a:lnSpc>
            </a:pPr>
            <a:r>
              <a:rPr lang="en-US" b="true" sz="1656" i="true">
                <a:solidFill>
                  <a:srgbClr val="2254C5"/>
                </a:solidFill>
                <a:latin typeface="Montserrat Bold Italics"/>
                <a:ea typeface="Montserrat Bold Italics"/>
                <a:cs typeface="Montserrat Bold Italics"/>
                <a:sym typeface="Montserrat Bold Italics"/>
              </a:rPr>
              <a:t>Restaurant App</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4145" y="9719678"/>
            <a:ext cx="20443391" cy="0"/>
          </a:xfrm>
          <a:prstGeom prst="line">
            <a:avLst/>
          </a:prstGeom>
          <a:ln cap="flat" w="28575">
            <a:solidFill>
              <a:srgbClr val="2254C5"/>
            </a:solidFill>
            <a:prstDash val="solid"/>
            <a:headEnd type="none" len="sm" w="sm"/>
            <a:tailEnd type="none" len="sm" w="sm"/>
          </a:ln>
        </p:spPr>
      </p:sp>
      <p:sp>
        <p:nvSpPr>
          <p:cNvPr name="AutoShape 3" id="3"/>
          <p:cNvSpPr/>
          <p:nvPr/>
        </p:nvSpPr>
        <p:spPr>
          <a:xfrm flipV="true">
            <a:off x="9523223" y="420970"/>
            <a:ext cx="6923190" cy="0"/>
          </a:xfrm>
          <a:prstGeom prst="line">
            <a:avLst/>
          </a:prstGeom>
          <a:ln cap="flat" w="28575">
            <a:solidFill>
              <a:srgbClr val="2254C5"/>
            </a:solidFill>
            <a:prstDash val="solid"/>
            <a:headEnd type="none" len="sm" w="sm"/>
            <a:tailEnd type="none" len="sm" w="sm"/>
          </a:ln>
        </p:spPr>
      </p:sp>
      <p:sp>
        <p:nvSpPr>
          <p:cNvPr name="Freeform 4" id="4"/>
          <p:cNvSpPr/>
          <p:nvPr/>
        </p:nvSpPr>
        <p:spPr>
          <a:xfrm flipH="false" flipV="false" rot="0">
            <a:off x="16690166" y="111235"/>
            <a:ext cx="1138269" cy="1120056"/>
          </a:xfrm>
          <a:custGeom>
            <a:avLst/>
            <a:gdLst/>
            <a:ahLst/>
            <a:cxnLst/>
            <a:rect r="r" b="b" t="t" l="l"/>
            <a:pathLst>
              <a:path h="1120056" w="1138269">
                <a:moveTo>
                  <a:pt x="0" y="0"/>
                </a:moveTo>
                <a:lnTo>
                  <a:pt x="1138268" y="0"/>
                </a:lnTo>
                <a:lnTo>
                  <a:pt x="1138268" y="1120056"/>
                </a:lnTo>
                <a:lnTo>
                  <a:pt x="0" y="1120056"/>
                </a:lnTo>
                <a:lnTo>
                  <a:pt x="0" y="0"/>
                </a:lnTo>
                <a:close/>
              </a:path>
            </a:pathLst>
          </a:custGeom>
          <a:blipFill>
            <a:blip r:embed="rId2"/>
            <a:stretch>
              <a:fillRect l="0" t="0" r="0" b="0"/>
            </a:stretch>
          </a:blipFill>
        </p:spPr>
      </p:sp>
      <p:sp>
        <p:nvSpPr>
          <p:cNvPr name="Freeform 5" id="5"/>
          <p:cNvSpPr/>
          <p:nvPr/>
        </p:nvSpPr>
        <p:spPr>
          <a:xfrm flipH="false" flipV="false" rot="0">
            <a:off x="2390605" y="2152192"/>
            <a:ext cx="11614882" cy="7166963"/>
          </a:xfrm>
          <a:custGeom>
            <a:avLst/>
            <a:gdLst/>
            <a:ahLst/>
            <a:cxnLst/>
            <a:rect r="r" b="b" t="t" l="l"/>
            <a:pathLst>
              <a:path h="7166963" w="11614882">
                <a:moveTo>
                  <a:pt x="0" y="0"/>
                </a:moveTo>
                <a:lnTo>
                  <a:pt x="11614882" y="0"/>
                </a:lnTo>
                <a:lnTo>
                  <a:pt x="11614882" y="7166963"/>
                </a:lnTo>
                <a:lnTo>
                  <a:pt x="0" y="7166963"/>
                </a:lnTo>
                <a:lnTo>
                  <a:pt x="0" y="0"/>
                </a:lnTo>
                <a:close/>
              </a:path>
            </a:pathLst>
          </a:custGeom>
          <a:blipFill>
            <a:blip r:embed="rId3"/>
            <a:stretch>
              <a:fillRect l="0" t="0" r="0" b="0"/>
            </a:stretch>
          </a:blipFill>
        </p:spPr>
      </p:sp>
      <p:sp>
        <p:nvSpPr>
          <p:cNvPr name="TextBox 6" id="6"/>
          <p:cNvSpPr txBox="true"/>
          <p:nvPr/>
        </p:nvSpPr>
        <p:spPr>
          <a:xfrm rot="0">
            <a:off x="1365117" y="1583433"/>
            <a:ext cx="13088885" cy="1023218"/>
          </a:xfrm>
          <a:prstGeom prst="rect">
            <a:avLst/>
          </a:prstGeom>
        </p:spPr>
        <p:txBody>
          <a:bodyPr anchor="t" rtlCol="false" tIns="0" lIns="0" bIns="0" rIns="0">
            <a:spAutoFit/>
          </a:bodyPr>
          <a:lstStyle/>
          <a:p>
            <a:pPr algn="l">
              <a:lnSpc>
                <a:spcPts val="8378"/>
              </a:lnSpc>
            </a:pPr>
            <a:r>
              <a:rPr lang="en-US" sz="5984" b="true">
                <a:solidFill>
                  <a:srgbClr val="2254C5"/>
                </a:solidFill>
                <a:latin typeface="Montserrat Bold"/>
                <a:ea typeface="Montserrat Bold"/>
                <a:cs typeface="Montserrat Bold"/>
                <a:sym typeface="Montserrat Bold"/>
              </a:rPr>
              <a:t>Entity Relationship Diagram</a:t>
            </a:r>
          </a:p>
        </p:txBody>
      </p:sp>
      <p:sp>
        <p:nvSpPr>
          <p:cNvPr name="TextBox 7" id="7"/>
          <p:cNvSpPr txBox="true"/>
          <p:nvPr/>
        </p:nvSpPr>
        <p:spPr>
          <a:xfrm rot="0">
            <a:off x="1468039" y="656975"/>
            <a:ext cx="1845132" cy="272261"/>
          </a:xfrm>
          <a:prstGeom prst="rect">
            <a:avLst/>
          </a:prstGeom>
        </p:spPr>
        <p:txBody>
          <a:bodyPr anchor="t" rtlCol="false" tIns="0" lIns="0" bIns="0" rIns="0">
            <a:spAutoFit/>
          </a:bodyPr>
          <a:lstStyle/>
          <a:p>
            <a:pPr algn="l">
              <a:lnSpc>
                <a:spcPts val="2318"/>
              </a:lnSpc>
            </a:pPr>
            <a:r>
              <a:rPr lang="en-US" b="true" sz="1656" i="true">
                <a:solidFill>
                  <a:srgbClr val="2254C5"/>
                </a:solidFill>
                <a:latin typeface="Montserrat Bold Italics"/>
                <a:ea typeface="Montserrat Bold Italics"/>
                <a:cs typeface="Montserrat Bold Italics"/>
                <a:sym typeface="Montserrat Bold Italics"/>
              </a:rPr>
              <a:t>Restaurant App</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4145" y="9719678"/>
            <a:ext cx="20443391" cy="0"/>
          </a:xfrm>
          <a:prstGeom prst="line">
            <a:avLst/>
          </a:prstGeom>
          <a:ln cap="flat" w="28575">
            <a:solidFill>
              <a:srgbClr val="2254C5"/>
            </a:solidFill>
            <a:prstDash val="solid"/>
            <a:headEnd type="none" len="sm" w="sm"/>
            <a:tailEnd type="none" len="sm" w="sm"/>
          </a:ln>
        </p:spPr>
      </p:sp>
      <p:sp>
        <p:nvSpPr>
          <p:cNvPr name="AutoShape 3" id="3"/>
          <p:cNvSpPr/>
          <p:nvPr/>
        </p:nvSpPr>
        <p:spPr>
          <a:xfrm flipV="true">
            <a:off x="9523223" y="420970"/>
            <a:ext cx="6923190" cy="0"/>
          </a:xfrm>
          <a:prstGeom prst="line">
            <a:avLst/>
          </a:prstGeom>
          <a:ln cap="flat" w="28575">
            <a:solidFill>
              <a:srgbClr val="2254C5"/>
            </a:solidFill>
            <a:prstDash val="solid"/>
            <a:headEnd type="none" len="sm" w="sm"/>
            <a:tailEnd type="none" len="sm" w="sm"/>
          </a:ln>
        </p:spPr>
      </p:sp>
      <p:sp>
        <p:nvSpPr>
          <p:cNvPr name="Freeform 4" id="4"/>
          <p:cNvSpPr/>
          <p:nvPr/>
        </p:nvSpPr>
        <p:spPr>
          <a:xfrm flipH="false" flipV="false" rot="0">
            <a:off x="16690166" y="111235"/>
            <a:ext cx="1138269" cy="1120056"/>
          </a:xfrm>
          <a:custGeom>
            <a:avLst/>
            <a:gdLst/>
            <a:ahLst/>
            <a:cxnLst/>
            <a:rect r="r" b="b" t="t" l="l"/>
            <a:pathLst>
              <a:path h="1120056" w="1138269">
                <a:moveTo>
                  <a:pt x="0" y="0"/>
                </a:moveTo>
                <a:lnTo>
                  <a:pt x="1138268" y="0"/>
                </a:lnTo>
                <a:lnTo>
                  <a:pt x="1138268" y="1120056"/>
                </a:lnTo>
                <a:lnTo>
                  <a:pt x="0" y="1120056"/>
                </a:lnTo>
                <a:lnTo>
                  <a:pt x="0" y="0"/>
                </a:lnTo>
                <a:close/>
              </a:path>
            </a:pathLst>
          </a:custGeom>
          <a:blipFill>
            <a:blip r:embed="rId2"/>
            <a:stretch>
              <a:fillRect l="0" t="0" r="0" b="0"/>
            </a:stretch>
          </a:blipFill>
        </p:spPr>
      </p:sp>
      <p:sp>
        <p:nvSpPr>
          <p:cNvPr name="Freeform 5" id="5"/>
          <p:cNvSpPr/>
          <p:nvPr/>
        </p:nvSpPr>
        <p:spPr>
          <a:xfrm flipH="false" flipV="false" rot="0">
            <a:off x="1365117" y="2690388"/>
            <a:ext cx="7396177" cy="6567912"/>
          </a:xfrm>
          <a:custGeom>
            <a:avLst/>
            <a:gdLst/>
            <a:ahLst/>
            <a:cxnLst/>
            <a:rect r="r" b="b" t="t" l="l"/>
            <a:pathLst>
              <a:path h="6567912" w="7396177">
                <a:moveTo>
                  <a:pt x="0" y="0"/>
                </a:moveTo>
                <a:lnTo>
                  <a:pt x="7396177" y="0"/>
                </a:lnTo>
                <a:lnTo>
                  <a:pt x="7396177" y="6567912"/>
                </a:lnTo>
                <a:lnTo>
                  <a:pt x="0" y="6567912"/>
                </a:lnTo>
                <a:lnTo>
                  <a:pt x="0" y="0"/>
                </a:lnTo>
                <a:close/>
              </a:path>
            </a:pathLst>
          </a:custGeom>
          <a:blipFill>
            <a:blip r:embed="rId3"/>
            <a:stretch>
              <a:fillRect l="0" t="0" r="-15905" b="-83687"/>
            </a:stretch>
          </a:blipFill>
        </p:spPr>
      </p:sp>
      <p:sp>
        <p:nvSpPr>
          <p:cNvPr name="Freeform 6" id="6"/>
          <p:cNvSpPr/>
          <p:nvPr/>
        </p:nvSpPr>
        <p:spPr>
          <a:xfrm flipH="false" flipV="false" rot="0">
            <a:off x="8984695" y="2690388"/>
            <a:ext cx="8843739" cy="5984820"/>
          </a:xfrm>
          <a:custGeom>
            <a:avLst/>
            <a:gdLst/>
            <a:ahLst/>
            <a:cxnLst/>
            <a:rect r="r" b="b" t="t" l="l"/>
            <a:pathLst>
              <a:path h="5984820" w="8843739">
                <a:moveTo>
                  <a:pt x="0" y="0"/>
                </a:moveTo>
                <a:lnTo>
                  <a:pt x="8843739" y="0"/>
                </a:lnTo>
                <a:lnTo>
                  <a:pt x="8843739" y="5984820"/>
                </a:lnTo>
                <a:lnTo>
                  <a:pt x="0" y="5984820"/>
                </a:lnTo>
                <a:lnTo>
                  <a:pt x="0" y="0"/>
                </a:lnTo>
                <a:close/>
              </a:path>
            </a:pathLst>
          </a:custGeom>
          <a:blipFill>
            <a:blip r:embed="rId3"/>
            <a:stretch>
              <a:fillRect l="0" t="-124781" r="-8490" b="-836"/>
            </a:stretch>
          </a:blipFill>
        </p:spPr>
      </p:sp>
      <p:sp>
        <p:nvSpPr>
          <p:cNvPr name="TextBox 7" id="7"/>
          <p:cNvSpPr txBox="true"/>
          <p:nvPr/>
        </p:nvSpPr>
        <p:spPr>
          <a:xfrm rot="0">
            <a:off x="1365117" y="1219494"/>
            <a:ext cx="13088885" cy="1023218"/>
          </a:xfrm>
          <a:prstGeom prst="rect">
            <a:avLst/>
          </a:prstGeom>
        </p:spPr>
        <p:txBody>
          <a:bodyPr anchor="t" rtlCol="false" tIns="0" lIns="0" bIns="0" rIns="0">
            <a:spAutoFit/>
          </a:bodyPr>
          <a:lstStyle/>
          <a:p>
            <a:pPr algn="l">
              <a:lnSpc>
                <a:spcPts val="8378"/>
              </a:lnSpc>
            </a:pPr>
            <a:r>
              <a:rPr lang="en-US" sz="5984" b="true">
                <a:solidFill>
                  <a:srgbClr val="2254C5"/>
                </a:solidFill>
                <a:latin typeface="Montserrat Bold"/>
                <a:ea typeface="Montserrat Bold"/>
                <a:cs typeface="Montserrat Bold"/>
                <a:sym typeface="Montserrat Bold"/>
              </a:rPr>
              <a:t>Testing</a:t>
            </a:r>
          </a:p>
        </p:txBody>
      </p:sp>
      <p:sp>
        <p:nvSpPr>
          <p:cNvPr name="TextBox 8" id="8"/>
          <p:cNvSpPr txBox="true"/>
          <p:nvPr/>
        </p:nvSpPr>
        <p:spPr>
          <a:xfrm rot="0">
            <a:off x="1468039" y="656975"/>
            <a:ext cx="1845132" cy="272261"/>
          </a:xfrm>
          <a:prstGeom prst="rect">
            <a:avLst/>
          </a:prstGeom>
        </p:spPr>
        <p:txBody>
          <a:bodyPr anchor="t" rtlCol="false" tIns="0" lIns="0" bIns="0" rIns="0">
            <a:spAutoFit/>
          </a:bodyPr>
          <a:lstStyle/>
          <a:p>
            <a:pPr algn="l">
              <a:lnSpc>
                <a:spcPts val="2318"/>
              </a:lnSpc>
            </a:pPr>
            <a:r>
              <a:rPr lang="en-US" b="true" sz="1656" i="true">
                <a:solidFill>
                  <a:srgbClr val="2254C5"/>
                </a:solidFill>
                <a:latin typeface="Montserrat Bold Italics"/>
                <a:ea typeface="Montserrat Bold Italics"/>
                <a:cs typeface="Montserrat Bold Italics"/>
                <a:sym typeface="Montserrat Bold Italics"/>
              </a:rPr>
              <a:t>Restaurant App</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4145" y="9719678"/>
            <a:ext cx="20443391" cy="0"/>
          </a:xfrm>
          <a:prstGeom prst="line">
            <a:avLst/>
          </a:prstGeom>
          <a:ln cap="flat" w="28575">
            <a:solidFill>
              <a:srgbClr val="2254C5"/>
            </a:solidFill>
            <a:prstDash val="solid"/>
            <a:headEnd type="none" len="sm" w="sm"/>
            <a:tailEnd type="none" len="sm" w="sm"/>
          </a:ln>
        </p:spPr>
      </p:sp>
      <p:sp>
        <p:nvSpPr>
          <p:cNvPr name="AutoShape 3" id="3"/>
          <p:cNvSpPr/>
          <p:nvPr/>
        </p:nvSpPr>
        <p:spPr>
          <a:xfrm flipV="true">
            <a:off x="9523223" y="420970"/>
            <a:ext cx="6923190" cy="0"/>
          </a:xfrm>
          <a:prstGeom prst="line">
            <a:avLst/>
          </a:prstGeom>
          <a:ln cap="flat" w="28575">
            <a:solidFill>
              <a:srgbClr val="2254C5"/>
            </a:solidFill>
            <a:prstDash val="solid"/>
            <a:headEnd type="none" len="sm" w="sm"/>
            <a:tailEnd type="none" len="sm" w="sm"/>
          </a:ln>
        </p:spPr>
      </p:sp>
      <p:sp>
        <p:nvSpPr>
          <p:cNvPr name="Freeform 4" id="4"/>
          <p:cNvSpPr/>
          <p:nvPr/>
        </p:nvSpPr>
        <p:spPr>
          <a:xfrm flipH="false" flipV="false" rot="0">
            <a:off x="16690166" y="111235"/>
            <a:ext cx="1138269" cy="1120056"/>
          </a:xfrm>
          <a:custGeom>
            <a:avLst/>
            <a:gdLst/>
            <a:ahLst/>
            <a:cxnLst/>
            <a:rect r="r" b="b" t="t" l="l"/>
            <a:pathLst>
              <a:path h="1120056" w="1138269">
                <a:moveTo>
                  <a:pt x="0" y="0"/>
                </a:moveTo>
                <a:lnTo>
                  <a:pt x="1138268" y="0"/>
                </a:lnTo>
                <a:lnTo>
                  <a:pt x="1138268" y="1120056"/>
                </a:lnTo>
                <a:lnTo>
                  <a:pt x="0" y="1120056"/>
                </a:lnTo>
                <a:lnTo>
                  <a:pt x="0" y="0"/>
                </a:lnTo>
                <a:close/>
              </a:path>
            </a:pathLst>
          </a:custGeom>
          <a:blipFill>
            <a:blip r:embed="rId2"/>
            <a:stretch>
              <a:fillRect l="0" t="0" r="0" b="0"/>
            </a:stretch>
          </a:blipFill>
        </p:spPr>
      </p:sp>
      <p:sp>
        <p:nvSpPr>
          <p:cNvPr name="Freeform 5" id="5"/>
          <p:cNvSpPr/>
          <p:nvPr/>
        </p:nvSpPr>
        <p:spPr>
          <a:xfrm flipH="false" flipV="false" rot="0">
            <a:off x="1468039" y="2780575"/>
            <a:ext cx="14892675" cy="4579498"/>
          </a:xfrm>
          <a:custGeom>
            <a:avLst/>
            <a:gdLst/>
            <a:ahLst/>
            <a:cxnLst/>
            <a:rect r="r" b="b" t="t" l="l"/>
            <a:pathLst>
              <a:path h="4579498" w="14892675">
                <a:moveTo>
                  <a:pt x="0" y="0"/>
                </a:moveTo>
                <a:lnTo>
                  <a:pt x="14892675" y="0"/>
                </a:lnTo>
                <a:lnTo>
                  <a:pt x="14892675" y="4579498"/>
                </a:lnTo>
                <a:lnTo>
                  <a:pt x="0" y="4579498"/>
                </a:lnTo>
                <a:lnTo>
                  <a:pt x="0" y="0"/>
                </a:lnTo>
                <a:close/>
              </a:path>
            </a:pathLst>
          </a:custGeom>
          <a:blipFill>
            <a:blip r:embed="rId3"/>
            <a:stretch>
              <a:fillRect l="0" t="0" r="0" b="0"/>
            </a:stretch>
          </a:blipFill>
        </p:spPr>
      </p:sp>
      <p:sp>
        <p:nvSpPr>
          <p:cNvPr name="TextBox 6" id="6"/>
          <p:cNvSpPr txBox="true"/>
          <p:nvPr/>
        </p:nvSpPr>
        <p:spPr>
          <a:xfrm rot="0">
            <a:off x="1365117" y="1219494"/>
            <a:ext cx="13088885" cy="1023218"/>
          </a:xfrm>
          <a:prstGeom prst="rect">
            <a:avLst/>
          </a:prstGeom>
        </p:spPr>
        <p:txBody>
          <a:bodyPr anchor="t" rtlCol="false" tIns="0" lIns="0" bIns="0" rIns="0">
            <a:spAutoFit/>
          </a:bodyPr>
          <a:lstStyle/>
          <a:p>
            <a:pPr algn="l">
              <a:lnSpc>
                <a:spcPts val="8378"/>
              </a:lnSpc>
            </a:pPr>
            <a:r>
              <a:rPr lang="en-US" sz="5984" b="true">
                <a:solidFill>
                  <a:srgbClr val="2254C5"/>
                </a:solidFill>
                <a:latin typeface="Montserrat Bold"/>
                <a:ea typeface="Montserrat Bold"/>
                <a:cs typeface="Montserrat Bold"/>
                <a:sym typeface="Montserrat Bold"/>
              </a:rPr>
              <a:t>Tampilan Sederhana UI</a:t>
            </a:r>
          </a:p>
        </p:txBody>
      </p:sp>
      <p:sp>
        <p:nvSpPr>
          <p:cNvPr name="TextBox 7" id="7"/>
          <p:cNvSpPr txBox="true"/>
          <p:nvPr/>
        </p:nvSpPr>
        <p:spPr>
          <a:xfrm rot="0">
            <a:off x="1468039" y="656975"/>
            <a:ext cx="1845132" cy="272261"/>
          </a:xfrm>
          <a:prstGeom prst="rect">
            <a:avLst/>
          </a:prstGeom>
        </p:spPr>
        <p:txBody>
          <a:bodyPr anchor="t" rtlCol="false" tIns="0" lIns="0" bIns="0" rIns="0">
            <a:spAutoFit/>
          </a:bodyPr>
          <a:lstStyle/>
          <a:p>
            <a:pPr algn="l">
              <a:lnSpc>
                <a:spcPts val="2318"/>
              </a:lnSpc>
            </a:pPr>
            <a:r>
              <a:rPr lang="en-US" b="true" sz="1656" i="true">
                <a:solidFill>
                  <a:srgbClr val="2254C5"/>
                </a:solidFill>
                <a:latin typeface="Montserrat Bold Italics"/>
                <a:ea typeface="Montserrat Bold Italics"/>
                <a:cs typeface="Montserrat Bold Italics"/>
                <a:sym typeface="Montserrat Bold Italics"/>
              </a:rPr>
              <a:t>Restaurant App</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254C5"/>
        </a:solidFill>
      </p:bgPr>
    </p:bg>
    <p:spTree>
      <p:nvGrpSpPr>
        <p:cNvPr id="1" name=""/>
        <p:cNvGrpSpPr/>
        <p:nvPr/>
      </p:nvGrpSpPr>
      <p:grpSpPr>
        <a:xfrm>
          <a:off x="0" y="0"/>
          <a:ext cx="0" cy="0"/>
          <a:chOff x="0" y="0"/>
          <a:chExt cx="0" cy="0"/>
        </a:xfrm>
      </p:grpSpPr>
      <p:sp>
        <p:nvSpPr>
          <p:cNvPr name="TextBox 2" id="2"/>
          <p:cNvSpPr txBox="true"/>
          <p:nvPr/>
        </p:nvSpPr>
        <p:spPr>
          <a:xfrm rot="0">
            <a:off x="1618215" y="3349437"/>
            <a:ext cx="11382374" cy="2488376"/>
          </a:xfrm>
          <a:prstGeom prst="rect">
            <a:avLst/>
          </a:prstGeom>
        </p:spPr>
        <p:txBody>
          <a:bodyPr anchor="t" rtlCol="false" tIns="0" lIns="0" bIns="0" rIns="0">
            <a:spAutoFit/>
          </a:bodyPr>
          <a:lstStyle/>
          <a:p>
            <a:pPr algn="l">
              <a:lnSpc>
                <a:spcPts val="20345"/>
              </a:lnSpc>
            </a:pPr>
            <a:r>
              <a:rPr lang="en-US" sz="14532" b="true">
                <a:solidFill>
                  <a:srgbClr val="FFFFFF"/>
                </a:solidFill>
                <a:latin typeface="Montserrat Bold"/>
                <a:ea typeface="Montserrat Bold"/>
                <a:cs typeface="Montserrat Bold"/>
                <a:sym typeface="Montserrat Bold"/>
              </a:rPr>
              <a:t>Thank You</a:t>
            </a:r>
          </a:p>
        </p:txBody>
      </p:sp>
      <p:sp>
        <p:nvSpPr>
          <p:cNvPr name="TextBox 3" id="3"/>
          <p:cNvSpPr txBox="true"/>
          <p:nvPr/>
        </p:nvSpPr>
        <p:spPr>
          <a:xfrm rot="0">
            <a:off x="2080754" y="7074500"/>
            <a:ext cx="7980364" cy="646744"/>
          </a:xfrm>
          <a:prstGeom prst="rect">
            <a:avLst/>
          </a:prstGeom>
        </p:spPr>
        <p:txBody>
          <a:bodyPr anchor="t" rtlCol="false" tIns="0" lIns="0" bIns="0" rIns="0">
            <a:spAutoFit/>
          </a:bodyPr>
          <a:lstStyle/>
          <a:p>
            <a:pPr algn="l">
              <a:lnSpc>
                <a:spcPts val="5302"/>
              </a:lnSpc>
              <a:spcBef>
                <a:spcPct val="0"/>
              </a:spcBef>
            </a:pPr>
            <a:r>
              <a:rPr lang="en-US" b="true" sz="3787" i="true">
                <a:solidFill>
                  <a:srgbClr val="FFFFFF"/>
                </a:solidFill>
                <a:latin typeface="Montserrat Bold Italics"/>
                <a:ea typeface="Montserrat Bold Italics"/>
                <a:cs typeface="Montserrat Bold Italics"/>
                <a:sym typeface="Montserrat Bold Italics"/>
              </a:rPr>
              <a:t>Melda Frestiana</a:t>
            </a:r>
          </a:p>
        </p:txBody>
      </p:sp>
      <p:sp>
        <p:nvSpPr>
          <p:cNvPr name="Freeform 4" id="4"/>
          <p:cNvSpPr/>
          <p:nvPr/>
        </p:nvSpPr>
        <p:spPr>
          <a:xfrm flipH="false" flipV="false" rot="0">
            <a:off x="9754987" y="7721244"/>
            <a:ext cx="127419" cy="165479"/>
          </a:xfrm>
          <a:custGeom>
            <a:avLst/>
            <a:gdLst/>
            <a:ahLst/>
            <a:cxnLst/>
            <a:rect r="r" b="b" t="t" l="l"/>
            <a:pathLst>
              <a:path h="165479" w="127419">
                <a:moveTo>
                  <a:pt x="0" y="0"/>
                </a:moveTo>
                <a:lnTo>
                  <a:pt x="127418" y="0"/>
                </a:lnTo>
                <a:lnTo>
                  <a:pt x="127418" y="165479"/>
                </a:lnTo>
                <a:lnTo>
                  <a:pt x="0" y="1654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a:off x="-970252" y="9719678"/>
            <a:ext cx="20335605" cy="0"/>
          </a:xfrm>
          <a:prstGeom prst="line">
            <a:avLst/>
          </a:prstGeom>
          <a:ln cap="flat" w="28575">
            <a:solidFill>
              <a:srgbClr val="FFFFFF"/>
            </a:solidFill>
            <a:prstDash val="solid"/>
            <a:headEnd type="none" len="sm" w="sm"/>
            <a:tailEnd type="none" len="sm" w="sm"/>
          </a:ln>
        </p:spPr>
      </p:sp>
      <p:sp>
        <p:nvSpPr>
          <p:cNvPr name="AutoShape 6" id="6"/>
          <p:cNvSpPr/>
          <p:nvPr/>
        </p:nvSpPr>
        <p:spPr>
          <a:xfrm flipV="true">
            <a:off x="11850061" y="1042987"/>
            <a:ext cx="6976926" cy="0"/>
          </a:xfrm>
          <a:prstGeom prst="line">
            <a:avLst/>
          </a:prstGeom>
          <a:ln cap="flat" w="28575">
            <a:solidFill>
              <a:srgbClr val="FFFFFF"/>
            </a:solidFill>
            <a:prstDash val="solid"/>
            <a:headEnd type="none" len="sm" w="sm"/>
            <a:tailEnd type="none" len="sm" w="sm"/>
          </a:ln>
        </p:spPr>
      </p:sp>
      <p:sp>
        <p:nvSpPr>
          <p:cNvPr name="TextBox 7" id="7"/>
          <p:cNvSpPr txBox="true"/>
          <p:nvPr/>
        </p:nvSpPr>
        <p:spPr>
          <a:xfrm rot="0">
            <a:off x="2080754" y="6471750"/>
            <a:ext cx="6379494" cy="588492"/>
          </a:xfrm>
          <a:prstGeom prst="rect">
            <a:avLst/>
          </a:prstGeom>
        </p:spPr>
        <p:txBody>
          <a:bodyPr anchor="t" rtlCol="false" tIns="0" lIns="0" bIns="0" rIns="0">
            <a:spAutoFit/>
          </a:bodyPr>
          <a:lstStyle/>
          <a:p>
            <a:pPr algn="l">
              <a:lnSpc>
                <a:spcPts val="4838"/>
              </a:lnSpc>
            </a:pPr>
            <a:r>
              <a:rPr lang="en-US" sz="3456" i="true">
                <a:solidFill>
                  <a:srgbClr val="FFFFFF"/>
                </a:solidFill>
                <a:latin typeface="Montserrat Italics"/>
                <a:ea typeface="Montserrat Italics"/>
                <a:cs typeface="Montserrat Italics"/>
                <a:sym typeface="Montserrat Italics"/>
              </a:rPr>
              <a:t>Restaurant 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DAG6T4y-qMY</dc:identifier>
  <dcterms:modified xsi:type="dcterms:W3CDTF">2011-08-01T06:04:30Z</dcterms:modified>
  <cp:revision>1</cp:revision>
  <dc:title>Restaurant App</dc:title>
</cp:coreProperties>
</file>